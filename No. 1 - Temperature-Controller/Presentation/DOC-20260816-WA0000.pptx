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73A"/>
                </a:solidFill>
                <a:latin typeface="Aptos Display"/>
              </a:defRPr>
            </a:pPr>
            <a:r>
              <a:t>Dual-LM393 Temperature Controller</a:t>
            </a:r>
          </a:p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&amp; Safety Clamp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90672"/>
            <a:ext cx="1051560" cy="41148"/>
          </a:xfrm>
          <a:prstGeom prst="rect">
            <a:avLst/>
          </a:prstGeom>
          <a:solidFill>
            <a:srgbClr val="3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F6973"/>
                </a:solidFill>
                <a:latin typeface="Aptos"/>
              </a:defRPr>
            </a:pPr>
            <a:r>
              <a:t>Electronics Laboratory • Complex Engineering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241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8273A"/>
                </a:solidFill>
                <a:latin typeface="Aptos"/>
              </a:defRPr>
            </a:pPr>
            <a:r>
              <a:t>Daffodil International University</a:t>
            </a:r>
          </a:p>
          <a:p>
            <a:pPr>
              <a:spcAft>
                <a:spcPts val="500"/>
              </a:spcAft>
              <a:defRPr sz="1400" b="0">
                <a:solidFill>
                  <a:srgbClr val="18273A"/>
                </a:solidFill>
                <a:latin typeface="Aptos"/>
              </a:defRPr>
            </a:pPr>
            <a:r>
              <a:t>Department of Electrical &amp; Electronic Engineering</a:t>
            </a:r>
          </a:p>
          <a:p>
            <a:pPr>
              <a:spcAft>
                <a:spcPts val="500"/>
              </a:spcAft>
              <a:defRPr sz="1300" b="0">
                <a:solidFill>
                  <a:srgbClr val="5F6973"/>
                </a:solidFill>
                <a:latin typeface="Aptos"/>
              </a:defRPr>
            </a:pPr>
            <a:r>
              <a:t>IDs: 251-33-096 • 251-33-097 • 251-33-099</a:t>
            </a:r>
          </a:p>
          <a:p>
            <a:pPr>
              <a:spcAft>
                <a:spcPts val="500"/>
              </a:spcAft>
              <a:defRPr sz="1300" b="0">
                <a:solidFill>
                  <a:srgbClr val="5F6973"/>
                </a:solidFill>
                <a:latin typeface="Aptos"/>
              </a:defRPr>
            </a:pPr>
            <a:r>
              <a:t>Course Instructor: Engr. Bijoy Sorker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16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Three-stage temperature monitoring and protection system using two LM393 dual comparators.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Temperature input is simulated with a 10 kΩ potentiometer using the specified TMP36 transfer function.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30 °C: warning; 60 °C: alarm and cooling fan; 100 °C: master shutdown.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An NE555 generates an approximately 1.5 Hz alarm signal, while a 2N2222 controls the fan.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Experimental testing produced approximately 1.487 V, close to the 1.50 V shutdown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Background: excessive temperature can affect normal operation and may damage electronic components.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Motivation: create a practical automatic warning, cooling, alarm, and shutdown system.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The design combines threshold detection, visual indication, audible indication, automatic cooling, and safety shutdown.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The project is implemented and evaluated through circuit design, simulation, and experimental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Block diagram and operating stages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10 kΩ Temperature</a:t>
            </a:r>
            <a:br/>
            <a:r>
              <a:t>Simulator / V_IN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24028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9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LM393 IC1</a:t>
            </a:r>
            <a:br/>
            <a:r>
              <a:t>Stage 1 &amp; Stage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32588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Stage 1</a:t>
            </a:r>
            <a:br/>
            <a:r>
              <a:t>Warning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06324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Stage 2</a:t>
            </a:r>
            <a:br/>
            <a:r>
              <a:t>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74519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2N2222</a:t>
            </a:r>
            <a:br/>
            <a:r>
              <a:t>Fan Driver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61188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NE555</a:t>
            </a:r>
            <a:br/>
            <a:r>
              <a:t>Astable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32588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5 V Fan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324612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Red LED +</a:t>
            </a:r>
            <a:br/>
            <a:r>
              <a:t>Piezo Buzzer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59436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LM393 IC2</a:t>
            </a:r>
            <a:br/>
            <a:r>
              <a:t>100 °C Clamp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594360"/>
            <a:ext cx="1874519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1F34"/>
                </a:solidFill>
              </a:defRPr>
            </a:pPr>
            <a:r>
              <a:t>Master</a:t>
            </a:r>
            <a:br/>
            <a:r>
              <a:t>Shutdown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2651760"/>
            <a:ext cx="2743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617720" y="1737360"/>
            <a:ext cx="274320" cy="91440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17720" y="2651760"/>
            <a:ext cx="274320" cy="82296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66560" y="2286000"/>
            <a:ext cx="365760" cy="118872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3474720"/>
            <a:ext cx="365760" cy="54864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006840" y="1737360"/>
            <a:ext cx="548640" cy="54864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006840" y="3657600"/>
            <a:ext cx="548640" cy="36576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15400" y="1005840"/>
            <a:ext cx="6400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Circuit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Complete circuit from the project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928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dfimg_p5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882" y="1353312"/>
            <a:ext cx="587193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618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9737D"/>
                </a:solidFill>
              </a:defRPr>
            </a:pPr>
            <a:r>
              <a:t>Figure 1. Circuit diagram of the temperature controller and safety clamp.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Tinkercad Circuit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Breadboard / simulation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928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dfimg_p6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53" y="1353312"/>
            <a:ext cx="9723588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618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9737D"/>
                </a:solidFill>
              </a:defRPr>
            </a:pPr>
            <a:r>
              <a:t>Figure 2. Breadboard implementation / simulation view of the temperature-controlled fan and alarm circuit.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PCB / Simulation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PCB implementation and simulation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928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dfimg_p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353312"/>
            <a:ext cx="804672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618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9737D"/>
                </a:solidFill>
              </a:defRPr>
            </a:pPr>
            <a:r>
              <a:t>Figure 3. PCB implementation / simulation view of the temperature-controlled fan and alarm circuit.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343E"/>
                </a:solidFill>
              </a:defRPr>
            </a:pPr>
            <a:r>
              <a:t>• V_IN follows V_OUT = 0.50 V + (10 mV/°C × T).</a:t>
            </a:r>
          </a:p>
          <a:p>
            <a:pPr>
              <a:spcAft>
                <a:spcPts val="1100"/>
              </a:spcAft>
              <a:defRPr sz="1700">
                <a:solidFill>
                  <a:srgbClr val="2D343E"/>
                </a:solidFill>
              </a:defRPr>
            </a:pPr>
            <a:r>
              <a:t>• 30 °C corresponds to 0.80 V; 60 °C to 1.10 V; 100 °C to 1.50 V.</a:t>
            </a:r>
          </a:p>
          <a:p>
            <a:pPr>
              <a:spcAft>
                <a:spcPts val="1100"/>
              </a:spcAft>
              <a:defRPr sz="1700">
                <a:solidFill>
                  <a:srgbClr val="2D343E"/>
                </a:solidFill>
              </a:defRPr>
            </a:pPr>
            <a:r>
              <a:t>• LM393 IC1 detects the 0.80 V and 1.10 V thresholds.</a:t>
            </a:r>
          </a:p>
          <a:p>
            <a:pPr>
              <a:spcAft>
                <a:spcPts val="1100"/>
              </a:spcAft>
              <a:defRPr sz="1700">
                <a:solidFill>
                  <a:srgbClr val="2D343E"/>
                </a:solidFill>
              </a:defRPr>
            </a:pPr>
            <a:r>
              <a:t>• LM393 IC2 provides independent 1.50 V master-shutdown clamp channels.</a:t>
            </a:r>
          </a:p>
          <a:p>
            <a:pPr>
              <a:spcAft>
                <a:spcPts val="1100"/>
              </a:spcAft>
              <a:defRPr sz="1700">
                <a:solidFill>
                  <a:srgbClr val="2D343E"/>
                </a:solidFill>
              </a:defRPr>
            </a:pPr>
            <a:r>
              <a:t>• During Stage 2, the NE555 drives the alarm outputs and the 2N2222 drives the cooling fan.</a:t>
            </a:r>
          </a:p>
          <a:p>
            <a:pPr>
              <a:spcAft>
                <a:spcPts val="1100"/>
              </a:spcAft>
              <a:defRPr sz="1700">
                <a:solidFill>
                  <a:srgbClr val="2D343E"/>
                </a:solidFill>
              </a:defRPr>
            </a:pPr>
            <a:r>
              <a:t>• At or above 100 °C, the clamp forces the stage-control nodes 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Results &amp; Discussion — Calculation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TMP36 threshold mapping: 30 °C → 0.80 V; 60 °C → 1.10 V; 100 °C → 1.50 V.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NE555: R_A = 1 kΩ, R_B = 47 kΩ, C_T = 10 µF.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Calculated alarm frequency ≈ 1.5158 Hz ≈ 1.5 Hz.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Calculated period ≈ 0.6583 s and duty cycle ≈ 50.53%.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Comparator and transistor current checks in the report support the selected component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Results &amp; Discussion —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Simulation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928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dfimg_p9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" y="1364875"/>
            <a:ext cx="10927080" cy="4503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618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9737D"/>
                </a:solidFill>
              </a:defRPr>
            </a:pPr>
            <a:r>
              <a:t>Figure 4. Simulation result of the temperature-controlled fan and alarm circuit.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Results &amp; Discussion —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Physical breadboard implementation and measurement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928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dfimg_p9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353312"/>
            <a:ext cx="804672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618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9737D"/>
                </a:solidFill>
              </a:defRPr>
            </a:pPr>
            <a:r>
              <a:t>Figure 5. Experimental setup and measured result; reported measurement ≈ 1.487 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Operating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343E"/>
                </a:solidFill>
              </a:defRPr>
            </a:pPr>
            <a:r>
              <a:t>• &lt; 30 °C: Idle — outputs OFF.</a:t>
            </a:r>
          </a:p>
          <a:p>
            <a:pPr>
              <a:spcAft>
                <a:spcPts val="1100"/>
              </a:spcAft>
              <a:defRPr sz="1900">
                <a:solidFill>
                  <a:srgbClr val="2D343E"/>
                </a:solidFill>
              </a:defRPr>
            </a:pPr>
            <a:r>
              <a:t>• 30–60 °C: Stage 1 — yellow warning LED ON.</a:t>
            </a:r>
          </a:p>
          <a:p>
            <a:pPr>
              <a:spcAft>
                <a:spcPts val="1100"/>
              </a:spcAft>
              <a:defRPr sz="1900">
                <a:solidFill>
                  <a:srgbClr val="2D343E"/>
                </a:solidFill>
              </a:defRPr>
            </a:pPr>
            <a:r>
              <a:t>• 60–100 °C: Stage 2 — fan ON, red LED blinking, buzzer pulsing.</a:t>
            </a:r>
          </a:p>
          <a:p>
            <a:pPr>
              <a:spcAft>
                <a:spcPts val="1100"/>
              </a:spcAft>
              <a:defRPr sz="1900">
                <a:solidFill>
                  <a:srgbClr val="2D343E"/>
                </a:solidFill>
              </a:defRPr>
            </a:pPr>
            <a:r>
              <a:t>• ≥ 100 °C: Master shutdown — Stage 2 control is clamped 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The Dual-LM393 Temperature Controller and Safety Clamp successfully demonstrates three-stage temperature monitoring and protection.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The warning, alarm/cooling, and master-shutdown thresholds are implemented at 30 °C, 60 °C, and 100 °C.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The NE555 provides the approximately 1.5 Hz alarm signal.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The experimental measurement of approximately 1.487 V is close to the 1.50 V shutdown reference.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Overall, the project combines threshold detection, alarm indication, automatic cooling, and safety shutdown.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Texas Instruments — LM393 Dual Differential Comparator, product information and datasheet.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Texas Instruments — NE555 Precision Timers, product information and datasheet.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Analog Devices — TMP36 Voltage Output Temperature Sensor, product information and datasheet.</a:t>
            </a:r>
          </a:p>
          <a:p>
            <a:pPr>
              <a:spcAft>
                <a:spcPts val="1100"/>
              </a:spcAft>
              <a:defRPr sz="1800">
                <a:solidFill>
                  <a:srgbClr val="2D343E"/>
                </a:solidFill>
              </a:defRPr>
            </a:pPr>
            <a:r>
              <a:t>• onsemi — 2N2222A Small Signal Switching Transistor, datasheet.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